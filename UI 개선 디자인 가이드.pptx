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실패 사례는 한 문제의 변주입니다. 결과는 보이는데 경로가 안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다 맞았습니다. 막힌 지점은 전부 경로였습니다.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레버리지 역효과는 경고 등급으로 오히려 강해집니다 — 배지 유지 + 이유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점선 밑줄이 그어진 숫자는 우리가 정한 값이다 — 규칙 한 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툴팁은 인쇄에서 사라지고 모바일에서 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박스플롯은 일반인에게 읽히지 않습니다. 문장이 주인공.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지우면 원칙 위반, 두면 아무도 안 읽습니다. 위치를 옮깁니다.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재배치는 근육 기억을 깨뜨립니다. 번호 유지, 그룹 라벨만.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색은 판정과 상태에만. 계열 구분은 명도로.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신뢰가 걸린 둘부터. 모바일은 보류.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143000"/>
            <a:ext cx="164959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HYREALTY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568414" y="1143000"/>
            <a:ext cx="162946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A29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 · 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38250" y="3456285"/>
            <a:ext cx="1104863" cy="19038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856323"/>
            <a:ext cx="17392650" cy="1187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949"/>
              </a:lnSpc>
              <a:buNone/>
            </a:pPr>
            <a:r>
              <a:rPr lang="en-US" sz="7800" spc="-234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향상 가이드라인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238250" y="5386338"/>
            <a:ext cx="11576685" cy="1091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630"/>
              </a:lnSpc>
              <a:buNone/>
            </a:pPr>
            <a:r>
              <a:rPr lang="en-US" sz="2550" dirty="0">
                <a:solidFill>
                  <a:srgbClr val="5F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주택 매수 의사결정 시뮬레이터 — 화면별 권장 방향 일곱 가지. 계산 결과의 의미는 그대로 두고, 결과에 이르는 </a:t>
            </a:r>
            <a:pPr algn="l" indent="0" marL="0">
              <a:lnSpc>
                <a:spcPct val="140630"/>
              </a:lnSpc>
              <a:buNone/>
            </a:pPr>
            <a:r>
              <a:rPr lang="en-US" sz="255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경로만 보이게 </a:t>
            </a:r>
            <a:pPr algn="l" indent="0" marL="0">
              <a:lnSpc>
                <a:spcPct val="140630"/>
              </a:lnSpc>
              <a:buNone/>
            </a:pPr>
            <a:r>
              <a:rPr lang="en-US" sz="2550" dirty="0">
                <a:solidFill>
                  <a:srgbClr val="5F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238250" y="8455050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8786813"/>
            <a:ext cx="263247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HTML · 외부 요청 0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4164769" y="8786813"/>
            <a:ext cx="15255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다크 단일 테마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085024" y="8786813"/>
            <a:ext cx="175921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인쇄 동등성 필수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8217669" y="8786813"/>
            <a:ext cx="152558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 통합 금지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900163"/>
            <a:ext cx="1739265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진단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2404194"/>
            <a:ext cx="17392650" cy="817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120"/>
              </a:lnSpc>
              <a:buNone/>
            </a:pPr>
            <a:r>
              <a:rPr lang="en-US" sz="4950" spc="-99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다섯 건의 실패는 한 문제의 변주입니다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238250" y="3717106"/>
            <a:ext cx="2964160" cy="3040310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31937" y="4106044"/>
            <a:ext cx="2614464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31937" y="4644988"/>
            <a:ext cx="2452985" cy="81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210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투입 vs 주식 초기 투입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31937" y="5627936"/>
            <a:ext cx="2452985" cy="778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382"/>
              </a:lnSpc>
              <a:buNone/>
            </a:pPr>
            <a:r>
              <a:rPr lang="en-US" sz="180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목돈의 두 갈래가 시간축으로 분리되지 않음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50023" y="3717106"/>
            <a:ext cx="2964222" cy="3040310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43710" y="4106044"/>
            <a:ext cx="2614532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743710" y="4644988"/>
            <a:ext cx="2453047" cy="811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210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보금자리론은 왜 안 나와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743710" y="5627936"/>
            <a:ext cx="2453047" cy="778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382"/>
              </a:lnSpc>
              <a:buNone/>
            </a:pPr>
            <a:r>
              <a:rPr lang="en-US" sz="180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없다 / 자격 미달 / 밀림 셋이 구분되지 않음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61858" y="3717106"/>
            <a:ext cx="2964222" cy="3040310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545" y="4106044"/>
            <a:ext cx="2614532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55545" y="4644988"/>
            <a:ext cx="2614532" cy="4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210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최고·최저·하위 25%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55545" y="5241230"/>
            <a:ext cx="2453047" cy="778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382"/>
              </a:lnSpc>
              <a:buNone/>
            </a:pPr>
            <a:r>
              <a:rPr lang="en-US" sz="180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숫자를 늘어놓으면 정작 쓰이는 간격이 안 보임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873692" y="3717106"/>
            <a:ext cx="2964222" cy="3040310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67380" y="4106044"/>
            <a:ext cx="2614532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167380" y="4644988"/>
            <a:ext cx="2614532" cy="4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210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초과수익률의 기준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167380" y="5241230"/>
            <a:ext cx="2453047" cy="408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382"/>
              </a:lnSpc>
              <a:buNone/>
            </a:pPr>
            <a:r>
              <a:rPr lang="en-US" sz="180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 대비인지 화면에 없음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085527" y="3717106"/>
            <a:ext cx="2964222" cy="3040310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379215" y="4106044"/>
            <a:ext cx="2614532" cy="367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⑤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379215" y="4644988"/>
            <a:ext cx="2614532" cy="424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545"/>
              </a:lnSpc>
              <a:buNone/>
            </a:pPr>
            <a:r>
              <a:rPr lang="en-US" sz="210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호칭 · 톤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4379215" y="5241230"/>
            <a:ext cx="2453047" cy="7786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382"/>
              </a:lnSpc>
              <a:buNone/>
            </a:pPr>
            <a:r>
              <a:rPr lang="en-US" sz="180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사적인 재무 결정에서 톤이 어긋나면 신뢰가 깎임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8250" y="7290779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8017805"/>
            <a:ext cx="1233525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공통 패턴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2776575" y="7755867"/>
            <a:ext cx="12075250" cy="6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81"/>
              </a:lnSpc>
              <a:buNone/>
            </a:pPr>
            <a:r>
              <a:rPr lang="en-US" sz="345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결과는 보여주는데, 그 결과에 이르는 경로가 안 보입니다.</a:t>
            </a:r>
            <a:endParaRPr lang="en-US" sz="3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1918208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571500"/>
            <a:ext cx="9553966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4 비교 매트릭스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238250" y="1018356"/>
            <a:ext cx="9553966" cy="652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3"/>
              </a:lnSpc>
              <a:buNone/>
            </a:pPr>
            <a:r>
              <a:rPr lang="en-US" sz="3900" spc="-78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배지를 3등급으로 — 셀당 색 배지는 하나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2810496" y="839949"/>
            <a:ext cx="4239253" cy="83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620"/>
              </a:lnSpc>
              <a:buNone/>
            </a:pPr>
            <a:r>
              <a:rPr lang="en-US" sz="195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19종이 같은 무게라 읽는 순서가 없습니다. 줄이지 않고 무게만 재배분합니다.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173759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A33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지금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38250" y="2658690"/>
            <a:ext cx="7696212" cy="2935014"/>
          </a:xfrm>
          <a:prstGeom prst="roundRect">
            <a:avLst>
              <a:gd name="adj" fmla="val 1947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2838" y="2914241"/>
            <a:ext cx="2527970" cy="423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보금자리론 (생애최초)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8431237" y="2936069"/>
            <a:ext cx="304837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0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12838" y="3432535"/>
            <a:ext cx="786174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80% · 2.40억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512838" y="3879391"/>
            <a:ext cx="7861740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125만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512838" y="4453247"/>
            <a:ext cx="786174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 6,662만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512838" y="4900104"/>
            <a:ext cx="1129481" cy="438051"/>
          </a:xfrm>
          <a:prstGeom prst="roundRect">
            <a:avLst>
              <a:gd name="adj" fmla="val 10872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646188" y="4976304"/>
            <a:ext cx="938981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LTV가 막음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37569" y="4900104"/>
            <a:ext cx="1056680" cy="438051"/>
          </a:xfrm>
          <a:prstGeom prst="roundRect">
            <a:avLst>
              <a:gd name="adj" fmla="val 10872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2870919" y="4976304"/>
            <a:ext cx="866180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부담 30%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889499" y="4900104"/>
            <a:ext cx="1501118" cy="438051"/>
          </a:xfrm>
          <a:prstGeom prst="roundRect">
            <a:avLst>
              <a:gd name="adj" fmla="val 10872"/>
            </a:avLst>
          </a:prstGeom>
          <a:solidFill>
            <a:srgbClr val="4C1D24"/>
          </a:solidFill>
          <a:ln/>
        </p:spPr>
      </p:sp>
      <p:sp>
        <p:nvSpPr>
          <p:cNvPr id="18" name="Text 16"/>
          <p:cNvSpPr/>
          <p:nvPr/>
        </p:nvSpPr>
        <p:spPr>
          <a:xfrm>
            <a:off x="4022849" y="4976304"/>
            <a:ext cx="1310618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레버리지 역효과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5866" y="4900104"/>
            <a:ext cx="1105669" cy="438051"/>
          </a:xfrm>
          <a:prstGeom prst="roundRect">
            <a:avLst>
              <a:gd name="adj" fmla="val 10872"/>
            </a:avLst>
          </a:prstGeom>
          <a:solidFill>
            <a:srgbClr val="4C1D24"/>
          </a:solidFill>
          <a:ln/>
        </p:spPr>
      </p:sp>
      <p:sp>
        <p:nvSpPr>
          <p:cNvPr id="20" name="Text 18"/>
          <p:cNvSpPr/>
          <p:nvPr/>
        </p:nvSpPr>
        <p:spPr>
          <a:xfrm>
            <a:off x="5619216" y="4976304"/>
            <a:ext cx="915169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2종 부적격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86785" y="4900104"/>
            <a:ext cx="1501118" cy="438051"/>
          </a:xfrm>
          <a:prstGeom prst="roundRect">
            <a:avLst>
              <a:gd name="adj" fmla="val 10872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20135" y="4976304"/>
            <a:ext cx="1310618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보금자리론 밀림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8250" y="5765105"/>
            <a:ext cx="7927099" cy="809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70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배지 5개가 같은 형태·같은 무게. 실행 불가 사유와 참고 사항이 나란히 놓여 무엇부터 볼지 알 수 없습니다.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353537" y="2173759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3E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제안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353537" y="2658690"/>
            <a:ext cx="7696212" cy="3956100"/>
          </a:xfrm>
          <a:prstGeom prst="roundRect">
            <a:avLst>
              <a:gd name="adj" fmla="val 1445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28125" y="2914241"/>
            <a:ext cx="1124769" cy="438051"/>
          </a:xfrm>
          <a:prstGeom prst="roundRect">
            <a:avLst>
              <a:gd name="adj" fmla="val 10872"/>
            </a:avLst>
          </a:prstGeom>
          <a:solidFill>
            <a:srgbClr val="9F1239"/>
          </a:solidFill>
          <a:ln/>
        </p:spPr>
      </p:sp>
      <p:sp>
        <p:nvSpPr>
          <p:cNvPr id="27" name="Text 25"/>
          <p:cNvSpPr/>
          <p:nvPr/>
        </p:nvSpPr>
        <p:spPr>
          <a:xfrm>
            <a:off x="9771000" y="2990441"/>
            <a:ext cx="915219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2종 부적격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0867181" y="2914241"/>
            <a:ext cx="1520217" cy="438051"/>
          </a:xfrm>
          <a:prstGeom prst="roundRect">
            <a:avLst>
              <a:gd name="adj" fmla="val 10872"/>
            </a:avLst>
          </a:prstGeom>
          <a:solidFill>
            <a:srgbClr val="92400E"/>
          </a:solidFill>
          <a:ln/>
        </p:spPr>
      </p:sp>
      <p:sp>
        <p:nvSpPr>
          <p:cNvPr id="29" name="Text 27"/>
          <p:cNvSpPr/>
          <p:nvPr/>
        </p:nvSpPr>
        <p:spPr>
          <a:xfrm>
            <a:off x="11010056" y="2990441"/>
            <a:ext cx="1310667" cy="323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레버리지 역효과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28125" y="3485617"/>
            <a:ext cx="7861740" cy="423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보금자리론 (생애최초)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9628125" y="4003911"/>
            <a:ext cx="1463712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125만</a:t>
            </a:r>
            <a:endParaRPr lang="en-US" sz="2850" dirty="0"/>
          </a:p>
        </p:txBody>
      </p:sp>
      <p:sp>
        <p:nvSpPr>
          <p:cNvPr id="32" name="Text 30"/>
          <p:cNvSpPr/>
          <p:nvPr/>
        </p:nvSpPr>
        <p:spPr>
          <a:xfrm>
            <a:off x="11130173" y="4130911"/>
            <a:ext cx="2038610" cy="304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LTV 80% · 2.40억</a:t>
            </a:r>
            <a:endParaRPr lang="en-US" sz="1575" dirty="0"/>
          </a:p>
        </p:txBody>
      </p:sp>
      <p:sp>
        <p:nvSpPr>
          <p:cNvPr id="33" name="Shape 31"/>
          <p:cNvSpPr/>
          <p:nvPr/>
        </p:nvSpPr>
        <p:spPr>
          <a:xfrm>
            <a:off x="9628125" y="4577767"/>
            <a:ext cx="1526542" cy="418207"/>
          </a:xfrm>
          <a:prstGeom prst="roundRect">
            <a:avLst>
              <a:gd name="adj" fmla="val 11388"/>
            </a:avLst>
          </a:prstGeom>
          <a:ln w="7937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69413" y="4661905"/>
            <a:ext cx="1320167" cy="288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한도 LTV 80%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1249918" y="4577767"/>
            <a:ext cx="1069330" cy="418207"/>
          </a:xfrm>
          <a:prstGeom prst="roundRect">
            <a:avLst>
              <a:gd name="adj" fmla="val 11388"/>
            </a:avLst>
          </a:prstGeom>
          <a:ln w="7937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391205" y="4661905"/>
            <a:ext cx="862955" cy="288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부담 30%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2414498" y="4577767"/>
            <a:ext cx="1462732" cy="418207"/>
          </a:xfrm>
          <a:prstGeom prst="roundRect">
            <a:avLst>
              <a:gd name="adj" fmla="val 11388"/>
            </a:avLst>
          </a:prstGeom>
          <a:ln w="7937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555786" y="4661905"/>
            <a:ext cx="1256357" cy="288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현금 6,662만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628125" y="5129299"/>
            <a:ext cx="7147036" cy="9525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40" name="Text 38"/>
          <p:cNvSpPr/>
          <p:nvPr/>
        </p:nvSpPr>
        <p:spPr>
          <a:xfrm>
            <a:off x="9628125" y="5289599"/>
            <a:ext cx="7361448" cy="7172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688"/>
              </a:lnSpc>
              <a:buNone/>
            </a:pPr>
            <a:r>
              <a:rPr lang="en-US" sz="1725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빌린 돈이 손해를 키웁니다. 가정 상승률(2.0%)이 대출 금리(3.8%)보다 낮아, 많이 빌릴수록 순자산이 줄어드는 구간입니다.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9628125" y="6064002"/>
            <a:ext cx="7861740" cy="333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500" dirty="0">
                <a:solidFill>
                  <a:srgbClr val="829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은행 주담대에 목적함수에서 밀림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353537" y="6786190"/>
            <a:ext cx="7696212" cy="2111375"/>
          </a:xfrm>
          <a:prstGeom prst="roundRect">
            <a:avLst>
              <a:gd name="adj" fmla="val 1805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9088" y="7036222"/>
            <a:ext cx="914350" cy="32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A33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</a:t>
            </a:r>
            <a:endParaRPr lang="en-US" sz="1875" dirty="0"/>
          </a:p>
        </p:txBody>
      </p:sp>
      <p:sp>
        <p:nvSpPr>
          <p:cNvPr id="44" name="Text 42"/>
          <p:cNvSpPr/>
          <p:nvPr/>
        </p:nvSpPr>
        <p:spPr>
          <a:xfrm>
            <a:off x="10637738" y="6984628"/>
            <a:ext cx="56828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자체가 불가능한 사유 — 채워진 rose, 셀당 1개, 첫 줄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9609088" y="7512472"/>
            <a:ext cx="914350" cy="32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8A5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경고</a:t>
            </a:r>
            <a:endParaRPr lang="en-US" sz="1875" dirty="0"/>
          </a:p>
        </p:txBody>
      </p:sp>
      <p:sp>
        <p:nvSpPr>
          <p:cNvPr id="46" name="Text 44"/>
          <p:cNvSpPr/>
          <p:nvPr/>
        </p:nvSpPr>
        <p:spPr>
          <a:xfrm>
            <a:off x="10637738" y="7460878"/>
            <a:ext cx="634115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실행은 되지만 </a:t>
            </a:r>
            <a:pPr algn="l" indent="0" marL="0">
              <a:lnSpc>
                <a:spcPct val="139130"/>
              </a:lnSpc>
              <a:buNone/>
            </a:pPr>
            <a:r>
              <a:rPr lang="en-US" sz="1875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돈을 잃는 구조 </a:t>
            </a:r>
            <a:pPr algn="l" indent="0" marL="0">
              <a:lnSpc>
                <a:spcPct val="139130"/>
              </a:lnSpc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채워진 amber + 이유 문장. 레버리지 역효과가 여기</a:t>
            </a:r>
            <a:endParaRPr lang="en-US" sz="1875" dirty="0"/>
          </a:p>
        </p:txBody>
      </p:sp>
      <p:sp>
        <p:nvSpPr>
          <p:cNvPr id="47" name="Text 45"/>
          <p:cNvSpPr/>
          <p:nvPr/>
        </p:nvSpPr>
        <p:spPr>
          <a:xfrm>
            <a:off x="9609088" y="8369722"/>
            <a:ext cx="914350" cy="32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</a:t>
            </a:r>
            <a:endParaRPr lang="en-US" sz="1875" dirty="0"/>
          </a:p>
        </p:txBody>
      </p:sp>
      <p:sp>
        <p:nvSpPr>
          <p:cNvPr id="48" name="Text 46"/>
          <p:cNvSpPr/>
          <p:nvPr/>
        </p:nvSpPr>
        <p:spPr>
          <a:xfrm>
            <a:off x="10637738" y="8318128"/>
            <a:ext cx="535471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한도·부담·현금 같은 수치 — 테두리만, 무채색, 라벨+값</a:t>
            </a:r>
            <a:endParaRPr lang="en-US" sz="1875" dirty="0"/>
          </a:p>
        </p:txBody>
      </p:sp>
      <p:sp>
        <p:nvSpPr>
          <p:cNvPr id="49" name="Shape 47"/>
          <p:cNvSpPr/>
          <p:nvPr/>
        </p:nvSpPr>
        <p:spPr>
          <a:xfrm>
            <a:off x="1238250" y="8477250"/>
            <a:ext cx="15811500" cy="1238250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50" name="Shape 48"/>
          <p:cNvSpPr/>
          <p:nvPr/>
        </p:nvSpPr>
        <p:spPr>
          <a:xfrm>
            <a:off x="1238250" y="8477250"/>
            <a:ext cx="27781" cy="1238250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51" name="Text 49"/>
          <p:cNvSpPr/>
          <p:nvPr/>
        </p:nvSpPr>
        <p:spPr>
          <a:xfrm>
            <a:off x="1570819" y="8748675"/>
            <a:ext cx="1233525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권장 방향</a:t>
            </a:r>
            <a:endParaRPr lang="en-US" sz="1875" dirty="0"/>
          </a:p>
        </p:txBody>
      </p:sp>
      <p:sp>
        <p:nvSpPr>
          <p:cNvPr id="52" name="Text 50"/>
          <p:cNvSpPr/>
          <p:nvPr/>
        </p:nvSpPr>
        <p:spPr>
          <a:xfrm>
            <a:off x="3147219" y="8724863"/>
            <a:ext cx="14005676" cy="7811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831"/>
              </a:lnSpc>
              <a:buNone/>
            </a:pPr>
            <a:r>
              <a:rPr lang="en-US" sz="195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레버리지 역효과는 경고 등급으로 오히려 강해집니다 — 배지를 유지한 채 이유 문장을 붙입니다. 강등되는 것은 "밀림" 같은 절차 사유뿐입니다.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94099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075"/>
            <a:ext cx="10116585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전 화면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238250" y="1246932"/>
            <a:ext cx="10116585" cy="69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42"/>
              </a:lnSpc>
              <a:buNone/>
            </a:pPr>
            <a:r>
              <a:rPr lang="en-US" sz="4200" spc="-84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가정값은 배지가 아니라 타이포로 가른다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340590" y="1115839"/>
            <a:ext cx="4709160" cy="83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620"/>
              </a:lnSpc>
              <a:buNone/>
            </a:pPr>
            <a:r>
              <a:rPr lang="en-US" sz="195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배지는 카드 단위, 혼입은 숫자 단위로 일어납니다.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83036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A33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지금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38250" y="3067968"/>
            <a:ext cx="7696212" cy="2094570"/>
          </a:xfrm>
          <a:prstGeom prst="roundRect">
            <a:avLst>
              <a:gd name="adj" fmla="val 2728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0013" y="3399730"/>
            <a:ext cx="3392537" cy="1431044"/>
          </a:xfrm>
          <a:prstGeom prst="roundRect">
            <a:avLst>
              <a:gd name="adj" fmla="val 3328"/>
            </a:avLst>
          </a:prstGeom>
          <a:ln w="7937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5563" y="3655281"/>
            <a:ext cx="316958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전세가율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825563" y="4071193"/>
            <a:ext cx="3169580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80.0%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5210162" y="3399730"/>
            <a:ext cx="3392537" cy="1431044"/>
          </a:xfrm>
          <a:prstGeom prst="roundRect">
            <a:avLst>
              <a:gd name="adj" fmla="val 3328"/>
            </a:avLst>
          </a:prstGeom>
          <a:ln w="7937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65713" y="3655281"/>
            <a:ext cx="316958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투자수익률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465713" y="4071193"/>
            <a:ext cx="3169580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1238250" y="5333938"/>
            <a:ext cx="7927099" cy="809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70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실측(국토부 실거래)과 자리표시자가 시각적으로 동일합니다. 인용되는 순간 구분이 사라집니다.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9353537" y="2583036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3E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제안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353537" y="3067968"/>
            <a:ext cx="7696212" cy="2678720"/>
          </a:xfrm>
          <a:prstGeom prst="roundRect">
            <a:avLst>
              <a:gd name="adj" fmla="val 2133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85300" y="3399730"/>
            <a:ext cx="3392537" cy="2015195"/>
          </a:xfrm>
          <a:prstGeom prst="roundRect">
            <a:avLst>
              <a:gd name="adj" fmla="val 2363"/>
            </a:avLst>
          </a:prstGeom>
          <a:ln w="7937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40850" y="3655281"/>
            <a:ext cx="316958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전세가율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940850" y="4071193"/>
            <a:ext cx="3169580" cy="542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80.0%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9940850" y="4708550"/>
            <a:ext cx="3169580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실거래 · 성산구 84㎡ · 312건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3325449" y="3399730"/>
            <a:ext cx="3392537" cy="2015195"/>
          </a:xfrm>
          <a:prstGeom prst="roundRect">
            <a:avLst>
              <a:gd name="adj" fmla="val 2363"/>
            </a:avLst>
          </a:prstGeom>
          <a:ln w="7937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81000" y="3655281"/>
            <a:ext cx="316958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투자수익률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13581000" y="4768081"/>
            <a:ext cx="1051161" cy="15875"/>
          </a:xfrm>
          <a:prstGeom prst="rect">
            <a:avLst/>
          </a:prstGeom>
          <a:solidFill>
            <a:srgbClr val="6B7A90"/>
          </a:solidFill>
          <a:ln/>
        </p:spPr>
      </p:sp>
      <p:sp>
        <p:nvSpPr>
          <p:cNvPr id="24" name="Text 22"/>
          <p:cNvSpPr/>
          <p:nvPr/>
        </p:nvSpPr>
        <p:spPr>
          <a:xfrm>
            <a:off x="13581000" y="4071193"/>
            <a:ext cx="1127361" cy="6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3450" dirty="0"/>
          </a:p>
        </p:txBody>
      </p:sp>
      <p:sp>
        <p:nvSpPr>
          <p:cNvPr id="25" name="Text 23"/>
          <p:cNvSpPr/>
          <p:nvPr/>
        </p:nvSpPr>
        <p:spPr>
          <a:xfrm>
            <a:off x="14746449" y="4329162"/>
            <a:ext cx="43307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가정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3581000" y="4917281"/>
            <a:ext cx="3169580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자리표시자 · 바꿀 수 있음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9353537" y="5918088"/>
            <a:ext cx="7696212" cy="1269256"/>
          </a:xfrm>
          <a:prstGeom prst="roundRect">
            <a:avLst>
              <a:gd name="adj" fmla="val 3002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7225" y="6173676"/>
            <a:ext cx="7339724" cy="796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800" b="1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한 줄 </a:t>
            </a:r>
            <a:pPr algn="l" indent="0" marL="0">
              <a:lnSpc>
                <a:spcPct val="144000"/>
              </a:lnSpc>
              <a:buNone/>
            </a:pPr>
            <a:r>
              <a:rPr lang="en-US" sz="1800" dirty="0">
                <a:solidFill>
                  <a:srgbClr val="4A423A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점선 밑줄이 그어진 숫자는 우리가 정한 값이다. 굵기와 명도를 한 단 낮추고, 출처를 값 바로 아래 고정합니다.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38250" y="8593150"/>
            <a:ext cx="15811500" cy="893775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30" name="Shape 28"/>
          <p:cNvSpPr/>
          <p:nvPr/>
        </p:nvSpPr>
        <p:spPr>
          <a:xfrm>
            <a:off x="1238250" y="8593150"/>
            <a:ext cx="27781" cy="893775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31" name="Text 29"/>
          <p:cNvSpPr/>
          <p:nvPr/>
        </p:nvSpPr>
        <p:spPr>
          <a:xfrm>
            <a:off x="1570819" y="8880450"/>
            <a:ext cx="1233525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권장 방향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3147219" y="8840763"/>
            <a:ext cx="11521702" cy="4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20"/>
              </a:lnSpc>
              <a:buNone/>
            </a:pPr>
            <a:r>
              <a:rPr lang="en-US" sz="2025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색이 아니라 획과 밑줄로 구분합니다 — 흑백 인쇄에서도, 색각 이상에서도 유지되는 유일한 신호입니다.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94099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075"/>
            <a:ext cx="10286777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4 매트릭스 · 7 리포트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238250" y="1246932"/>
            <a:ext cx="10286777" cy="69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42"/>
              </a:lnSpc>
              <a:buNone/>
            </a:pPr>
            <a:r>
              <a:rPr lang="en-US" sz="4200" spc="-84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근거는 툴팁이 아니라 상시 노출된 칩으로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913203" y="1512094"/>
            <a:ext cx="4136547" cy="43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620"/>
              </a:lnSpc>
              <a:buNone/>
            </a:pPr>
            <a:r>
              <a:rPr lang="en-US" sz="195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"3.64억"에서 "왜 3.64억인가"로 가는 길.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83036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A33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지금 — 호버해야만 보임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38250" y="3067968"/>
            <a:ext cx="7696212" cy="1773163"/>
          </a:xfrm>
          <a:prstGeom prst="roundRect">
            <a:avLst>
              <a:gd name="adj" fmla="val 3223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0013" y="3399730"/>
            <a:ext cx="773595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대출 한도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570013" y="3834680"/>
            <a:ext cx="7735956" cy="71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3.64억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1238250" y="5012531"/>
            <a:ext cx="7927099" cy="813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70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누르면 전 상품 계산 내역이 열리지만 </a:t>
            </a:r>
            <a:pPr algn="l" indent="0" marL="0">
              <a:lnSpc>
                <a:spcPct val="140870"/>
              </a:lnSpc>
              <a:buNone/>
            </a:pPr>
            <a:r>
              <a:rPr lang="en-US" sz="1875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누를 수 있다는 신호가 없습니다. </a:t>
            </a:r>
            <a:pPr algn="l" indent="0" marL="0">
              <a:lnSpc>
                <a:spcPct val="140870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인쇄하면 툴팁 정보가 통째로 빠집니다.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9353537" y="2583036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3E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제안 — 상시 칩 + 인쇄 각주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53537" y="3067968"/>
            <a:ext cx="7696212" cy="2942208"/>
          </a:xfrm>
          <a:prstGeom prst="roundRect">
            <a:avLst>
              <a:gd name="adj" fmla="val 1942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85300" y="3399730"/>
            <a:ext cx="773595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대출 한도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9685300" y="3872756"/>
            <a:ext cx="1708460" cy="712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3.64억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11352733" y="4166443"/>
            <a:ext cx="20196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¹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685300" y="4718844"/>
            <a:ext cx="4162723" cy="546075"/>
          </a:xfrm>
          <a:prstGeom prst="roundRect">
            <a:avLst>
              <a:gd name="adj" fmla="val 8721"/>
            </a:avLst>
          </a:prstGeom>
          <a:solidFill>
            <a:srgbClr val="082F49"/>
          </a:solidFill>
          <a:ln w="7937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64637" y="4841069"/>
            <a:ext cx="3942023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70% × 5.20억 → 스트레스 DSR로 절삭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3562583" y="4841069"/>
            <a:ext cx="18230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9685300" y="5436319"/>
            <a:ext cx="7735956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누르면 4개 상품 전체 계산 내역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9353537" y="6181576"/>
            <a:ext cx="7696212" cy="2146226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7937">
            <a:solidFill>
              <a:srgbClr val="CFC6B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628125" y="6418088"/>
            <a:ext cx="786174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인쇄본 각주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28125" y="6853039"/>
            <a:ext cx="7361448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826"/>
              </a:lnSpc>
              <a:buNone/>
            </a:pPr>
            <a:r>
              <a:rPr lang="en-US" sz="1500" baseline="30000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algn="l" indent="0" marL="0">
              <a:lnSpc>
                <a:spcPct val="147826"/>
              </a:lnSpc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대출 한도 3.64억 = LTV 70% × 매매가 5.20억. 스트레스 DSR(+1.5%p) 상환능력 3.71억보다 낮아 LTV가 구속. 수도권 절대상한 6.00억 미도달.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238250" y="8708802"/>
            <a:ext cx="15811500" cy="893775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24" name="Shape 22"/>
          <p:cNvSpPr/>
          <p:nvPr/>
        </p:nvSpPr>
        <p:spPr>
          <a:xfrm>
            <a:off x="1238250" y="8708802"/>
            <a:ext cx="27781" cy="893775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25" name="Text 23"/>
          <p:cNvSpPr/>
          <p:nvPr/>
        </p:nvSpPr>
        <p:spPr>
          <a:xfrm>
            <a:off x="1570819" y="8996102"/>
            <a:ext cx="1233525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권장 방향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3147219" y="8956414"/>
            <a:ext cx="13774160" cy="4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20"/>
              </a:lnSpc>
              <a:buNone/>
            </a:pPr>
            <a:r>
              <a:rPr lang="en-US" sz="2025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화면과 인쇄가 같은 데이터를 쓰고 표현만 갈립니다 — 칩(화면) · 각주(종이). 인쇄본만 들고 나가도 빠지는 정보가 없습니다.</a:t>
            </a:r>
            <a:endParaRPr lang="en-US" sz="20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94099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075"/>
            <a:ext cx="10841825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6 실거래 수익률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238250" y="1246932"/>
            <a:ext cx="10841825" cy="69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42"/>
              </a:lnSpc>
              <a:buNone/>
            </a:pPr>
            <a:r>
              <a:rPr lang="en-US" sz="4200" spc="-84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분포 띠는 그림이 아니라 문장이 주인공이다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340590" y="1115839"/>
            <a:ext cx="4709160" cy="83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620"/>
              </a:lnSpc>
              <a:buNone/>
            </a:pPr>
            <a:r>
              <a:rPr lang="en-US" sz="195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의사결정에 쓰이는 것은 숫자가 아니라 숫자 사이의 간격입니다.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83036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A33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지금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38250" y="3067968"/>
            <a:ext cx="7696212" cy="2352601"/>
          </a:xfrm>
          <a:prstGeom prst="roundRect">
            <a:avLst>
              <a:gd name="adj" fmla="val 2429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1937" y="3361655"/>
            <a:ext cx="781972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보유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531937" y="3928380"/>
            <a:ext cx="1813508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중위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531937" y="4274406"/>
            <a:ext cx="1813508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3351981" y="3928380"/>
            <a:ext cx="1813508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25%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3351981" y="4274406"/>
            <a:ext cx="1813508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172025" y="3928380"/>
            <a:ext cx="1813508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최악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5172025" y="4274406"/>
            <a:ext cx="1813508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992069" y="3928380"/>
            <a:ext cx="1813576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손실 비율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6992069" y="4274406"/>
            <a:ext cx="1813576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21054" y="4857006"/>
            <a:ext cx="7819721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425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진입시점 1개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238250" y="5591969"/>
            <a:ext cx="7927099" cy="809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70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숫자가 전부 같습니다. 표본이 하나라는 사실이 우측 하단 작은 글씨에만 있습니다.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353537" y="2583036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3E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제안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353537" y="3067968"/>
            <a:ext cx="7696212" cy="1912441"/>
          </a:xfrm>
          <a:prstGeom prst="roundRect">
            <a:avLst>
              <a:gd name="adj" fmla="val 2988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7225" y="3384661"/>
            <a:ext cx="91255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5년 보유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5034617" y="3361655"/>
            <a:ext cx="1721445" cy="403200"/>
          </a:xfrm>
          <a:prstGeom prst="roundRect">
            <a:avLst>
              <a:gd name="adj" fmla="val 11812"/>
            </a:avLst>
          </a:prstGeom>
          <a:solidFill>
            <a:srgbClr val="422006"/>
          </a:solidFill>
          <a:ln/>
        </p:spPr>
      </p:sp>
      <p:sp>
        <p:nvSpPr>
          <p:cNvPr id="23" name="Text 21"/>
          <p:cNvSpPr/>
          <p:nvPr/>
        </p:nvSpPr>
        <p:spPr>
          <a:xfrm>
            <a:off x="15158442" y="3428330"/>
            <a:ext cx="1549995" cy="307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 1개 · 분포 아님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9647225" y="3955355"/>
            <a:ext cx="7322102" cy="769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진입시점이 하나뿐이라 분포라 부를 수 없습니다. 4.2%는 한 사례의 결과 입니다.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353537" y="5151809"/>
            <a:ext cx="7696212" cy="2794248"/>
          </a:xfrm>
          <a:prstGeom prst="roundRect">
            <a:avLst>
              <a:gd name="adj" fmla="val 2045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7225" y="5445497"/>
            <a:ext cx="105542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10년 보유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5647540" y="5503044"/>
            <a:ext cx="1184721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진입시점 18개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9647225" y="6012222"/>
            <a:ext cx="7322102" cy="769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언제 들어갔느냐로 </a:t>
            </a:r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1.8% ~ 9.4% </a:t>
            </a:r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E5EA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까지 갈렸습니다. 넷 중 하나는 기준선에 못 미쳤습니다.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47225" y="7076901"/>
            <a:ext cx="7108837" cy="761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26775" y="7000751"/>
            <a:ext cx="3270064" cy="228575"/>
          </a:xfrm>
          <a:prstGeom prst="roundRect">
            <a:avLst>
              <a:gd name="adj" fmla="val 16668"/>
            </a:avLst>
          </a:prstGeom>
          <a:solidFill>
            <a:srgbClr val="0E749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490710" y="6953126"/>
            <a:ext cx="38075" cy="323825"/>
          </a:xfrm>
          <a:prstGeom prst="rect">
            <a:avLst/>
          </a:prstGeom>
          <a:solidFill>
            <a:srgbClr val="F2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13983580" y="6924601"/>
            <a:ext cx="28525" cy="3808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9647225" y="7410276"/>
            <a:ext cx="932272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최악 1.8%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0769947" y="7410276"/>
            <a:ext cx="1258019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하위25% 3.6%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12218417" y="7410276"/>
            <a:ext cx="932272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2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중위 5.1%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3341139" y="7410276"/>
            <a:ext cx="1353139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│기준선 4.74%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4837915" y="7410276"/>
            <a:ext cx="932272" cy="280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최고 9.4%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238250" y="8593150"/>
            <a:ext cx="15811500" cy="893775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8250" y="8593150"/>
            <a:ext cx="27781" cy="893775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40" name="Text 38"/>
          <p:cNvSpPr/>
          <p:nvPr/>
        </p:nvSpPr>
        <p:spPr>
          <a:xfrm>
            <a:off x="1570819" y="8880450"/>
            <a:ext cx="1233525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권장 방향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3147219" y="8840763"/>
            <a:ext cx="14420273" cy="4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20"/>
              </a:lnSpc>
              <a:buNone/>
            </a:pPr>
            <a:r>
              <a:rPr lang="en-US" sz="2025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문장을 띠 위로 올리고, 값은 축 라벨 대신 띠에 직접 붙입니다. 표본이 얇으면 띠 자체를 흐리게 죽여 "읽지 말라"고 말합니다.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94099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075"/>
            <a:ext cx="917668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전 화면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238250" y="1246932"/>
            <a:ext cx="9176680" cy="69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42"/>
              </a:lnSpc>
              <a:buNone/>
            </a:pPr>
            <a:r>
              <a:rPr lang="en-US" sz="4200" spc="-84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경고는 카드 하단이 아니라 숫자 옆에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340590" y="1115839"/>
            <a:ext cx="4709160" cy="83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620"/>
              </a:lnSpc>
              <a:buNone/>
            </a:pPr>
            <a:r>
              <a:rPr lang="en-US" sz="195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 중요하다고 말해서 아무것도 중요하지 않게 됐습니다.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583036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A33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지금 — 하단 나열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38250" y="3067968"/>
            <a:ext cx="7696212" cy="3428504"/>
          </a:xfrm>
          <a:prstGeom prst="roundRect">
            <a:avLst>
              <a:gd name="adj" fmla="val 1667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1937" y="3361655"/>
            <a:ext cx="1317873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2016Q3 중위가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531937" y="3707681"/>
            <a:ext cx="1317873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2.20억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531937" y="4157700"/>
            <a:ext cx="1317873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3건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3244329" y="3361655"/>
            <a:ext cx="994470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복리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3244329" y="3707681"/>
            <a:ext cx="99447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4.18%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531937" y="4637112"/>
            <a:ext cx="710883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531937" y="4816450"/>
            <a:ext cx="7819721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308"/>
              </a:lnSpc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양 끝 분기의 거래가 3건 미만입니다. 중위가라기보다 개별 물건 한 채에 가깝습니다.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531937" y="5182071"/>
            <a:ext cx="7819721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308"/>
              </a:lnSpc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층·향·수리 상태가 그대로 수익률에 섞여 들어갑니다.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531937" y="5547692"/>
            <a:ext cx="7819721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308"/>
              </a:lnSpc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해제된 거래는 제외했습니다.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531937" y="5913313"/>
            <a:ext cx="7819721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308"/>
              </a:lnSpc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예측이 아니라 과거 실현치입니다.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238250" y="6667872"/>
            <a:ext cx="7927099" cy="423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70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4.18%의 신뢰도를 좌우하는 첫 줄이 방법론 설명 세 줄에 묻힙니다.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353537" y="2583036"/>
            <a:ext cx="8465833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3E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제안 — 부착과 접기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9353537" y="3067968"/>
            <a:ext cx="7696212" cy="2380258"/>
          </a:xfrm>
          <a:prstGeom prst="roundRect">
            <a:avLst>
              <a:gd name="adj" fmla="val 2401"/>
            </a:avLst>
          </a:prstGeom>
          <a:solidFill>
            <a:srgbClr val="0E1420"/>
          </a:solidFill>
          <a:ln w="7937">
            <a:solidFill>
              <a:srgbClr val="2630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7225" y="3361655"/>
            <a:ext cx="1705663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2016Q3 중위가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9647225" y="3707681"/>
            <a:ext cx="1705663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2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2.20억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647225" y="4157700"/>
            <a:ext cx="1705663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거래 3건 — 중위 아님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712153" y="3361655"/>
            <a:ext cx="2104709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3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복리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1712153" y="3707681"/>
            <a:ext cx="994470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4.18%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2744710" y="3761693"/>
            <a:ext cx="880814" cy="372194"/>
          </a:xfrm>
          <a:prstGeom prst="roundRect">
            <a:avLst>
              <a:gd name="adj" fmla="val 10237"/>
            </a:avLst>
          </a:prstGeom>
          <a:solidFill>
            <a:srgbClr val="422006"/>
          </a:solidFill>
          <a:ln/>
        </p:spPr>
      </p:sp>
      <p:sp>
        <p:nvSpPr>
          <p:cNvPr id="27" name="Text 25"/>
          <p:cNvSpPr/>
          <p:nvPr/>
        </p:nvSpPr>
        <p:spPr>
          <a:xfrm>
            <a:off x="12859010" y="3818843"/>
            <a:ext cx="728414" cy="295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 얇음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712153" y="4191000"/>
            <a:ext cx="2104709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한 채에 가까움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9647225" y="4689450"/>
            <a:ext cx="7108837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9647225" y="4868788"/>
            <a:ext cx="1772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862529" y="4868788"/>
            <a:ext cx="579891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숫자의 산출 조건 3건 (해제 거래 제외 · 층/향 미보정 · 과거 실현치)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53537" y="5619626"/>
            <a:ext cx="7696212" cy="1349313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28125" y="5907732"/>
            <a:ext cx="914350" cy="32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부착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0656775" y="5856138"/>
            <a:ext cx="52703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숫자를 못 믿게 만드는 경고 — 값 바로 옆, 접지 않음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9628125" y="6403020"/>
            <a:ext cx="914350" cy="32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8C8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접기</a:t>
            </a:r>
            <a:endParaRPr lang="en-US" sz="1875" dirty="0"/>
          </a:p>
        </p:txBody>
      </p:sp>
      <p:sp>
        <p:nvSpPr>
          <p:cNvPr id="36" name="Text 34"/>
          <p:cNvSpPr/>
          <p:nvPr/>
        </p:nvSpPr>
        <p:spPr>
          <a:xfrm>
            <a:off x="10656775" y="6351426"/>
            <a:ext cx="53954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130"/>
              </a:lnSpc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방법론·정의 — 개수를 보여주고 접되, 인쇄 시 전부 펼침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238250" y="8593150"/>
            <a:ext cx="15811500" cy="893775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38" name="Shape 36"/>
          <p:cNvSpPr/>
          <p:nvPr/>
        </p:nvSpPr>
        <p:spPr>
          <a:xfrm>
            <a:off x="1238250" y="8593150"/>
            <a:ext cx="27781" cy="893775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39" name="Text 37"/>
          <p:cNvSpPr/>
          <p:nvPr/>
        </p:nvSpPr>
        <p:spPr>
          <a:xfrm>
            <a:off x="1570819" y="8880450"/>
            <a:ext cx="1233525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권장 방향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3147219" y="8840763"/>
            <a:ext cx="10336981" cy="4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20"/>
              </a:lnSpc>
              <a:buNone/>
            </a:pPr>
            <a:r>
              <a:rPr lang="en-US" sz="2025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줄도 지우지 않습니다. 위치만 옮깁니다 — 신뢰도 경고는 숫자에 붙고, 방법론은 접힙니다.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94099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075"/>
            <a:ext cx="8717948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전역 내비게이션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238250" y="1246932"/>
            <a:ext cx="8717948" cy="69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42"/>
              </a:lnSpc>
              <a:buNone/>
            </a:pPr>
            <a:r>
              <a:rPr lang="en-US" sz="4200" spc="-84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7탭은 그대로, 3층으로 묶기만 한다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340590" y="1115839"/>
            <a:ext cx="4709160" cy="83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620"/>
              </a:lnSpc>
              <a:buNone/>
            </a:pPr>
            <a:r>
              <a:rPr lang="en-US" sz="195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번호는 순서를 암시하지만 실제로는 4번과 5번을 오갑니다.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2621111"/>
            <a:ext cx="1739265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A33B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지금 — 7탭 동렬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238250" y="3125142"/>
            <a:ext cx="1774465" cy="642938"/>
          </a:xfrm>
          <a:prstGeom prst="roundRect">
            <a:avLst>
              <a:gd name="adj" fmla="val 7407"/>
            </a:avLst>
          </a:prstGeom>
          <a:solidFill>
            <a:srgbClr val="ECE7DE"/>
          </a:solidFill>
          <a:ln/>
        </p:spPr>
      </p:sp>
      <p:sp>
        <p:nvSpPr>
          <p:cNvPr id="8" name="Text 6"/>
          <p:cNvSpPr/>
          <p:nvPr/>
        </p:nvSpPr>
        <p:spPr>
          <a:xfrm>
            <a:off x="1466850" y="3268017"/>
            <a:ext cx="1393465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가구 프로필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3127003" y="3125142"/>
            <a:ext cx="1505893" cy="642938"/>
          </a:xfrm>
          <a:prstGeom prst="roundRect">
            <a:avLst>
              <a:gd name="adj" fmla="val 7407"/>
            </a:avLst>
          </a:prstGeom>
          <a:solidFill>
            <a:srgbClr val="ECE7DE"/>
          </a:solidFill>
          <a:ln/>
        </p:spPr>
      </p:sp>
      <p:sp>
        <p:nvSpPr>
          <p:cNvPr id="10" name="Text 8"/>
          <p:cNvSpPr/>
          <p:nvPr/>
        </p:nvSpPr>
        <p:spPr>
          <a:xfrm>
            <a:off x="3355603" y="3268017"/>
            <a:ext cx="1124893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시나리오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4747183" y="3125142"/>
            <a:ext cx="1583531" cy="642938"/>
          </a:xfrm>
          <a:prstGeom prst="roundRect">
            <a:avLst>
              <a:gd name="adj" fmla="val 7407"/>
            </a:avLst>
          </a:prstGeom>
          <a:solidFill>
            <a:srgbClr val="ECE7DE"/>
          </a:solidFill>
          <a:ln/>
        </p:spPr>
      </p:sp>
      <p:sp>
        <p:nvSpPr>
          <p:cNvPr id="12" name="Text 10"/>
          <p:cNvSpPr/>
          <p:nvPr/>
        </p:nvSpPr>
        <p:spPr>
          <a:xfrm>
            <a:off x="4975783" y="3268017"/>
            <a:ext cx="1202531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물건·입지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445002" y="3125142"/>
            <a:ext cx="1986917" cy="642938"/>
          </a:xfrm>
          <a:prstGeom prst="roundRect">
            <a:avLst>
              <a:gd name="adj" fmla="val 7407"/>
            </a:avLst>
          </a:prstGeom>
          <a:solidFill>
            <a:srgbClr val="ECE7DE"/>
          </a:solidFill>
          <a:ln/>
        </p:spPr>
      </p:sp>
      <p:sp>
        <p:nvSpPr>
          <p:cNvPr id="14" name="Text 12"/>
          <p:cNvSpPr/>
          <p:nvPr/>
        </p:nvSpPr>
        <p:spPr>
          <a:xfrm>
            <a:off x="6673602" y="3268017"/>
            <a:ext cx="1605917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비교 매트릭스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8546207" y="3125142"/>
            <a:ext cx="2085950" cy="642938"/>
          </a:xfrm>
          <a:prstGeom prst="roundRect">
            <a:avLst>
              <a:gd name="adj" fmla="val 7407"/>
            </a:avLst>
          </a:prstGeom>
          <a:solidFill>
            <a:srgbClr val="ECE7DE"/>
          </a:solidFill>
          <a:ln/>
        </p:spPr>
      </p:sp>
      <p:sp>
        <p:nvSpPr>
          <p:cNvPr id="16" name="Text 14"/>
          <p:cNvSpPr/>
          <p:nvPr/>
        </p:nvSpPr>
        <p:spPr>
          <a:xfrm>
            <a:off x="8774807" y="3268017"/>
            <a:ext cx="1704950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매수·전세·월세</a:t>
            </a:r>
            <a:endParaRPr lang="en-US" sz="1875" dirty="0"/>
          </a:p>
        </p:txBody>
      </p:sp>
      <p:sp>
        <p:nvSpPr>
          <p:cNvPr id="17" name="Shape 15"/>
          <p:cNvSpPr/>
          <p:nvPr/>
        </p:nvSpPr>
        <p:spPr>
          <a:xfrm>
            <a:off x="10746444" y="3125142"/>
            <a:ext cx="1986917" cy="642938"/>
          </a:xfrm>
          <a:prstGeom prst="roundRect">
            <a:avLst>
              <a:gd name="adj" fmla="val 7407"/>
            </a:avLst>
          </a:prstGeom>
          <a:solidFill>
            <a:srgbClr val="ECE7DE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5044" y="3268017"/>
            <a:ext cx="1605917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실거래 수익률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847650" y="3125142"/>
            <a:ext cx="1293502" cy="642938"/>
          </a:xfrm>
          <a:prstGeom prst="roundRect">
            <a:avLst>
              <a:gd name="adj" fmla="val 7407"/>
            </a:avLst>
          </a:prstGeom>
          <a:solidFill>
            <a:srgbClr val="ECE7DE"/>
          </a:solidFill>
          <a:ln/>
        </p:spPr>
      </p:sp>
      <p:sp>
        <p:nvSpPr>
          <p:cNvPr id="20" name="Text 18"/>
          <p:cNvSpPr/>
          <p:nvPr/>
        </p:nvSpPr>
        <p:spPr>
          <a:xfrm>
            <a:off x="13076250" y="3268017"/>
            <a:ext cx="912502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리포트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238250" y="4187155"/>
            <a:ext cx="1739265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3E6B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제안 — 3층 그룹 + 상시 드로어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38250" y="4748237"/>
            <a:ext cx="561221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입력 — 무엇을 가정하나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238250" y="5183187"/>
            <a:ext cx="1790340" cy="65881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7937">
            <a:solidFill>
              <a:srgbClr val="E1DA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74787" y="5334000"/>
            <a:ext cx="1393465" cy="3952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가구 프로필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3123840" y="5183187"/>
            <a:ext cx="1521768" cy="65881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7937">
            <a:solidFill>
              <a:srgbClr val="E1DA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0378" y="5334000"/>
            <a:ext cx="1124893" cy="3952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시나리오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4740858" y="5183187"/>
            <a:ext cx="1599406" cy="65881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7937">
            <a:solidFill>
              <a:srgbClr val="E1DA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7395" y="5334000"/>
            <a:ext cx="1202531" cy="3952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물건·입지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6797414" y="4691186"/>
            <a:ext cx="4560509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판정 — 무엇이 되나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797414" y="5126137"/>
            <a:ext cx="4145917" cy="715863"/>
          </a:xfrm>
          <a:prstGeom prst="roundRect">
            <a:avLst>
              <a:gd name="adj" fmla="val 9314"/>
            </a:avLst>
          </a:prstGeom>
          <a:solidFill>
            <a:srgbClr val="F3EBDC"/>
          </a:solidFill>
          <a:ln w="7937">
            <a:solidFill>
              <a:srgbClr val="C8AE7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2977" y="5181699"/>
            <a:ext cx="1948842" cy="604738"/>
          </a:xfrm>
          <a:prstGeom prst="roundRect">
            <a:avLst>
              <a:gd name="adj" fmla="val 7875"/>
            </a:avLst>
          </a:prstGeom>
          <a:solidFill>
            <a:srgbClr val="9A7B45"/>
          </a:solidFill>
          <a:ln/>
        </p:spPr>
      </p:sp>
      <p:sp>
        <p:nvSpPr>
          <p:cNvPr id="32" name="Text 30"/>
          <p:cNvSpPr/>
          <p:nvPr/>
        </p:nvSpPr>
        <p:spPr>
          <a:xfrm>
            <a:off x="7062527" y="5305524"/>
            <a:ext cx="1605942" cy="395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DF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비교 매트릭스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9049444" y="5305524"/>
            <a:ext cx="1704975" cy="395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C62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매수·전세·월세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1400482" y="4748237"/>
            <a:ext cx="374816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근거 · 산출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400482" y="5183187"/>
            <a:ext cx="2002792" cy="65881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7937">
            <a:solidFill>
              <a:srgbClr val="E1DA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637020" y="5334000"/>
            <a:ext cx="1605917" cy="3952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실거래 수익률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3498525" y="5183187"/>
            <a:ext cx="1309377" cy="65881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7937">
            <a:solidFill>
              <a:srgbClr val="E1DA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35062" y="5334000"/>
            <a:ext cx="912502" cy="3952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A4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리포트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1238250" y="6299150"/>
            <a:ext cx="218479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어디서나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238250" y="6734101"/>
            <a:ext cx="1986173" cy="658812"/>
          </a:xfrm>
          <a:prstGeom prst="roundRect">
            <a:avLst>
              <a:gd name="adj" fmla="val 7229"/>
            </a:avLst>
          </a:prstGeom>
          <a:solidFill>
            <a:srgbClr val="F6F3EE"/>
          </a:solidFill>
          <a:ln w="7937">
            <a:solidFill>
              <a:srgbClr val="C4B9A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474787" y="6884913"/>
            <a:ext cx="1589298" cy="3952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 공통점 ▸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238250" y="7811988"/>
            <a:ext cx="15811500" cy="893775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43" name="Shape 41"/>
          <p:cNvSpPr/>
          <p:nvPr/>
        </p:nvSpPr>
        <p:spPr>
          <a:xfrm>
            <a:off x="1238250" y="7811988"/>
            <a:ext cx="27781" cy="893775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44" name="Text 42"/>
          <p:cNvSpPr/>
          <p:nvPr/>
        </p:nvSpPr>
        <p:spPr>
          <a:xfrm>
            <a:off x="1570819" y="8099288"/>
            <a:ext cx="1233525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권장 방향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3147219" y="8059601"/>
            <a:ext cx="14131733" cy="4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20"/>
              </a:lnSpc>
              <a:buNone/>
            </a:pPr>
            <a:r>
              <a:rPr lang="en-US" sz="2025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번호와 순서는 유지하고 그룹 라벨만 얹습니다. 리포트(7)와 드로어 마크다운은 같은 소스를 써서 산출 경로를 하나로 합칩니다.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2194099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075"/>
            <a:ext cx="6231179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디자인 토큰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238250" y="1246932"/>
            <a:ext cx="6231179" cy="699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42"/>
              </a:lnSpc>
              <a:buNone/>
            </a:pPr>
            <a:r>
              <a:rPr lang="en-US" sz="4200" spc="-84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색은 한 가지 뜻만 갖는다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952484" y="1512094"/>
            <a:ext cx="4097265" cy="4343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620"/>
              </a:lnSpc>
              <a:buNone/>
            </a:pPr>
            <a:r>
              <a:rPr lang="en-US" sz="1950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색이 두 가지를 뜻하면 둘 다 못 읽힙니다.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238250" y="2583036"/>
            <a:ext cx="15811500" cy="5629113"/>
          </a:xfrm>
          <a:prstGeom prst="roundRect">
            <a:avLst>
              <a:gd name="adj" fmla="val 677"/>
            </a:avLst>
          </a:prstGeom>
          <a:solidFill>
            <a:srgbClr val="FFFFFF"/>
          </a:solidFill>
          <a:ln w="7937">
            <a:solidFill>
              <a:srgbClr val="E7E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46187" y="2590974"/>
            <a:ext cx="15795624" cy="728638"/>
          </a:xfrm>
          <a:prstGeom prst="rect">
            <a:avLst/>
          </a:prstGeom>
          <a:solidFill>
            <a:srgbClr val="F1ECE3"/>
          </a:solidFill>
          <a:ln/>
        </p:spPr>
      </p:sp>
      <p:sp>
        <p:nvSpPr>
          <p:cNvPr id="8" name="Shape 6"/>
          <p:cNvSpPr/>
          <p:nvPr/>
        </p:nvSpPr>
        <p:spPr>
          <a:xfrm>
            <a:off x="1246187" y="3311674"/>
            <a:ext cx="15795624" cy="9525"/>
          </a:xfrm>
          <a:prstGeom prst="rect">
            <a:avLst/>
          </a:prstGeom>
          <a:solidFill>
            <a:srgbClr val="E7E1D8"/>
          </a:solidFill>
          <a:ln/>
        </p:spPr>
      </p:sp>
      <p:sp>
        <p:nvSpPr>
          <p:cNvPr id="9" name="Text 7"/>
          <p:cNvSpPr/>
          <p:nvPr/>
        </p:nvSpPr>
        <p:spPr>
          <a:xfrm>
            <a:off x="1570013" y="2800511"/>
            <a:ext cx="209550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5013" y="2800511"/>
            <a:ext cx="582688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지금 (중복)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2177" y="2800511"/>
            <a:ext cx="874032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A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제안 (단일 의미)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46187" y="4169110"/>
            <a:ext cx="15795624" cy="9525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3" name="Shape 11"/>
          <p:cNvSpPr/>
          <p:nvPr/>
        </p:nvSpPr>
        <p:spPr>
          <a:xfrm>
            <a:off x="1570013" y="3639530"/>
            <a:ext cx="209538" cy="209538"/>
          </a:xfrm>
          <a:prstGeom prst="roundRect">
            <a:avLst>
              <a:gd name="adj" fmla="val 13637"/>
            </a:avLst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1931913" y="3591533"/>
            <a:ext cx="50482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sky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475013" y="3573673"/>
            <a:ext cx="5826882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3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선택됨 + 매수 갈래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72177" y="3567224"/>
            <a:ext cx="8740322" cy="392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E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선택·활성 상태 전용. 매수 갈래는 중립 흰색(기준선)으로.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46187" y="5026546"/>
            <a:ext cx="15795624" cy="9525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570013" y="4496966"/>
            <a:ext cx="209538" cy="209538"/>
          </a:xfrm>
          <a:prstGeom prst="roundRect">
            <a:avLst>
              <a:gd name="adj" fmla="val 13637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931913" y="4448969"/>
            <a:ext cx="107632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emerald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3475013" y="4431109"/>
            <a:ext cx="5826882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3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좋음 + 적립액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72177" y="4424660"/>
            <a:ext cx="8740322" cy="392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E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"실행 가능 · 충족" 판정 전용. 금액 계열에는 쓰지 않음.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46187" y="6238255"/>
            <a:ext cx="15795624" cy="9525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3" name="Shape 21"/>
          <p:cNvSpPr/>
          <p:nvPr/>
        </p:nvSpPr>
        <p:spPr>
          <a:xfrm>
            <a:off x="1570013" y="5531569"/>
            <a:ext cx="209538" cy="209538"/>
          </a:xfrm>
          <a:prstGeom prst="roundRect">
            <a:avLst>
              <a:gd name="adj" fmla="val 13637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931913" y="5483572"/>
            <a:ext cx="7905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3475013" y="5465713"/>
            <a:ext cx="5826882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3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 + 하위 25% + 가정값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772177" y="5282096"/>
            <a:ext cx="8184120" cy="746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E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"실행되지만 손해" 경고 전용 — 레버리지 역효과, 표본 얇음. 하위 25%는 띠 위 위치로, 가정값은 점선 밑줄로.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46187" y="7095691"/>
            <a:ext cx="15795624" cy="9525"/>
          </a:xfrm>
          <a:prstGeom prst="rect">
            <a:avLst/>
          </a:prstGeom>
          <a:solidFill>
            <a:srgbClr val="F0EB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0013" y="6566111"/>
            <a:ext cx="209538" cy="209538"/>
          </a:xfrm>
          <a:prstGeom prst="roundRect">
            <a:avLst>
              <a:gd name="adj" fmla="val 13637"/>
            </a:avLst>
          </a:prstGeom>
          <a:solidFill>
            <a:srgbClr val="F43F5E"/>
          </a:solidFill>
          <a:ln/>
        </p:spPr>
      </p:sp>
      <p:sp>
        <p:nvSpPr>
          <p:cNvPr id="29" name="Text 27"/>
          <p:cNvSpPr/>
          <p:nvPr/>
        </p:nvSpPr>
        <p:spPr>
          <a:xfrm>
            <a:off x="1931913" y="6518114"/>
            <a:ext cx="64770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rose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3475013" y="6500254"/>
            <a:ext cx="5826882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33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나쁨 + 탈락 + 역효과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772177" y="6493805"/>
            <a:ext cx="8740322" cy="392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E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차단(실행 불가) 전용. 절차 사유(밀림 등)는 회색 문장으로 강등.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70013" y="7423547"/>
            <a:ext cx="209538" cy="209538"/>
          </a:xfrm>
          <a:prstGeom prst="roundRect">
            <a:avLst>
              <a:gd name="adj" fmla="val 13637"/>
            </a:avLst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1931913" y="7375550"/>
            <a:ext cx="79057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slate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3475013" y="7357690"/>
            <a:ext cx="5826882" cy="379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· 보조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772177" y="7351241"/>
            <a:ext cx="8740322" cy="3923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1800" dirty="0">
                <a:solidFill>
                  <a:srgbClr val="2E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수치·조건·계열 구분 전부 여기로. 명도 3단계로만 위계를 만듭니다.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38250" y="8593150"/>
            <a:ext cx="15811500" cy="893775"/>
          </a:xfrm>
          <a:prstGeom prst="rect">
            <a:avLst/>
          </a:prstGeom>
          <a:solidFill>
            <a:srgbClr val="EFEAE1"/>
          </a:solidFill>
          <a:ln/>
        </p:spPr>
      </p:sp>
      <p:sp>
        <p:nvSpPr>
          <p:cNvPr id="37" name="Shape 35"/>
          <p:cNvSpPr/>
          <p:nvPr/>
        </p:nvSpPr>
        <p:spPr>
          <a:xfrm>
            <a:off x="1238250" y="8593150"/>
            <a:ext cx="27781" cy="893775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38" name="Text 36"/>
          <p:cNvSpPr/>
          <p:nvPr/>
        </p:nvSpPr>
        <p:spPr>
          <a:xfrm>
            <a:off x="1570819" y="8880450"/>
            <a:ext cx="1233525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권장 방향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3147219" y="8840763"/>
            <a:ext cx="8442778" cy="4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20"/>
              </a:lnSpc>
              <a:buNone/>
            </a:pPr>
            <a:r>
              <a:rPr lang="en-US" sz="2025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색은 판정과 상태에만 씁니다. 계열·순위·금액 구분은 전부 명도로 옮깁니다.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363"/>
            <a:ext cx="17392650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75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적용 순서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99294"/>
            <a:ext cx="17392650" cy="7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8"/>
              </a:lnSpc>
              <a:buNone/>
            </a:pPr>
            <a:r>
              <a:rPr lang="en-US" sz="4500" spc="-90" kern="0" dirty="0">
                <a:solidFill>
                  <a:srgbClr val="1B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신뢰가 걸린 것부터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238250" y="2565053"/>
            <a:ext cx="5080000" cy="5108029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7665144"/>
            <a:ext cx="5080000" cy="9525"/>
          </a:xfrm>
          <a:prstGeom prst="rect">
            <a:avLst/>
          </a:prstGeom>
          <a:solidFill>
            <a:srgbClr val="C8AE7E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2565053"/>
            <a:ext cx="5080000" cy="35719"/>
          </a:xfrm>
          <a:prstGeom prst="rect">
            <a:avLst/>
          </a:prstGeom>
          <a:solidFill>
            <a:srgbClr val="9A7B45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2565053"/>
            <a:ext cx="9525" cy="5108029"/>
          </a:xfrm>
          <a:prstGeom prst="rect">
            <a:avLst/>
          </a:prstGeom>
          <a:solidFill>
            <a:srgbClr val="C8AE7E"/>
          </a:solidFill>
          <a:ln/>
        </p:spPr>
      </p:sp>
      <p:sp>
        <p:nvSpPr>
          <p:cNvPr id="8" name="Shape 6"/>
          <p:cNvSpPr/>
          <p:nvPr/>
        </p:nvSpPr>
        <p:spPr>
          <a:xfrm>
            <a:off x="6310312" y="2565053"/>
            <a:ext cx="9525" cy="5108029"/>
          </a:xfrm>
          <a:prstGeom prst="rect">
            <a:avLst/>
          </a:prstGeom>
          <a:solidFill>
            <a:srgbClr val="C8AE7E"/>
          </a:solidFill>
          <a:ln/>
        </p:spPr>
      </p:sp>
      <p:sp>
        <p:nvSpPr>
          <p:cNvPr id="9" name="Text 7"/>
          <p:cNvSpPr/>
          <p:nvPr/>
        </p:nvSpPr>
        <p:spPr>
          <a:xfrm>
            <a:off x="1570013" y="2962672"/>
            <a:ext cx="4858122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먼저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570013" y="3466703"/>
            <a:ext cx="4548969" cy="98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753"/>
              </a:lnSpc>
              <a:buNone/>
            </a:pPr>
            <a:r>
              <a:rPr lang="en-US" sz="240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가정값 타이포 구분 03 근거 칩 + 인쇄 각주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70013" y="4602014"/>
            <a:ext cx="4548969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78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둘이 흐려지면 도구 전체가 거짓말이 됩니다.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604000" y="2565053"/>
            <a:ext cx="5080000" cy="5108029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604000" y="7665144"/>
            <a:ext cx="5080000" cy="9525"/>
          </a:xfrm>
          <a:prstGeom prst="rect">
            <a:avLst/>
          </a:prstGeom>
          <a:solidFill>
            <a:srgbClr val="E7E1D8"/>
          </a:solidFill>
          <a:ln/>
        </p:spPr>
      </p:sp>
      <p:sp>
        <p:nvSpPr>
          <p:cNvPr id="14" name="Shape 12"/>
          <p:cNvSpPr/>
          <p:nvPr/>
        </p:nvSpPr>
        <p:spPr>
          <a:xfrm>
            <a:off x="6604000" y="2565053"/>
            <a:ext cx="5080000" cy="35719"/>
          </a:xfrm>
          <a:prstGeom prst="rect">
            <a:avLst/>
          </a:prstGeom>
          <a:solidFill>
            <a:srgbClr val="C4B9A8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4000" y="2565053"/>
            <a:ext cx="9525" cy="5108029"/>
          </a:xfrm>
          <a:prstGeom prst="rect">
            <a:avLst/>
          </a:prstGeom>
          <a:solidFill>
            <a:srgbClr val="E7E1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76062" y="2565053"/>
            <a:ext cx="9525" cy="5108029"/>
          </a:xfrm>
          <a:prstGeom prst="rect">
            <a:avLst/>
          </a:prstGeom>
          <a:solidFill>
            <a:srgbClr val="E7E1D8"/>
          </a:solidFill>
          <a:ln/>
        </p:spPr>
      </p:sp>
      <p:sp>
        <p:nvSpPr>
          <p:cNvPr id="17" name="Text 15"/>
          <p:cNvSpPr/>
          <p:nvPr/>
        </p:nvSpPr>
        <p:spPr>
          <a:xfrm>
            <a:off x="6935763" y="2962672"/>
            <a:ext cx="4858122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9A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935763" y="3466703"/>
            <a:ext cx="4548969" cy="1455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753"/>
              </a:lnSpc>
              <a:buNone/>
            </a:pPr>
            <a:r>
              <a:rPr lang="en-US" sz="240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배지 3등급 05 경고 재배치 07 색 의미 정리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35763" y="5074419"/>
            <a:ext cx="4548969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78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대부분 CSS 층에서 끝납니다 — 엔진 무관.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1969750" y="2565053"/>
            <a:ext cx="5080000" cy="5108029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69750" y="7665144"/>
            <a:ext cx="5080000" cy="9525"/>
          </a:xfrm>
          <a:prstGeom prst="rect">
            <a:avLst/>
          </a:prstGeom>
          <a:solidFill>
            <a:srgbClr val="E7E1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969750" y="2565053"/>
            <a:ext cx="5080000" cy="35719"/>
          </a:xfrm>
          <a:prstGeom prst="rect">
            <a:avLst/>
          </a:prstGeom>
          <a:solidFill>
            <a:srgbClr val="E1DAC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969750" y="2565053"/>
            <a:ext cx="9525" cy="5108029"/>
          </a:xfrm>
          <a:prstGeom prst="rect">
            <a:avLst/>
          </a:prstGeom>
          <a:solidFill>
            <a:srgbClr val="E7E1D8"/>
          </a:solidFill>
          <a:ln/>
        </p:spPr>
      </p:sp>
      <p:sp>
        <p:nvSpPr>
          <p:cNvPr id="24" name="Shape 22"/>
          <p:cNvSpPr/>
          <p:nvPr/>
        </p:nvSpPr>
        <p:spPr>
          <a:xfrm>
            <a:off x="17041812" y="2565053"/>
            <a:ext cx="9525" cy="5108029"/>
          </a:xfrm>
          <a:prstGeom prst="rect">
            <a:avLst/>
          </a:prstGeom>
          <a:solidFill>
            <a:srgbClr val="E7E1D8"/>
          </a:solidFill>
          <a:ln/>
        </p:spPr>
      </p:sp>
      <p:sp>
        <p:nvSpPr>
          <p:cNvPr id="25" name="Text 23"/>
          <p:cNvSpPr/>
          <p:nvPr/>
        </p:nvSpPr>
        <p:spPr>
          <a:xfrm>
            <a:off x="12301512" y="2962672"/>
            <a:ext cx="4858122" cy="351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63" kern="0" dirty="0">
                <a:solidFill>
                  <a:srgbClr val="9A8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나중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301512" y="3466703"/>
            <a:ext cx="4548969" cy="9829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753"/>
              </a:lnSpc>
              <a:buNone/>
            </a:pPr>
            <a:r>
              <a:rPr lang="en-US" sz="2400" dirty="0">
                <a:solidFill>
                  <a:srgbClr val="1B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분포 띠 문장화 06 탭 3층 · 산출 경로 통합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301512" y="4602014"/>
            <a:ext cx="4548969" cy="823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3478"/>
              </a:lnSpc>
              <a:buNone/>
            </a:pPr>
            <a:r>
              <a:rPr lang="en-US" sz="1875" dirty="0">
                <a:solidFill>
                  <a:srgbClr val="746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모바일은 보류 — 데스크톱 전용 사용이 확인될 때까지 효과 불명.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238250" y="8130232"/>
            <a:ext cx="15811500" cy="9525"/>
          </a:xfrm>
          <a:prstGeom prst="rect">
            <a:avLst/>
          </a:prstGeom>
          <a:solidFill>
            <a:srgbClr val="DFD8CD"/>
          </a:solidFill>
          <a:ln/>
        </p:spPr>
      </p:sp>
      <p:sp>
        <p:nvSpPr>
          <p:cNvPr id="29" name="Text 27"/>
          <p:cNvSpPr/>
          <p:nvPr/>
        </p:nvSpPr>
        <p:spPr>
          <a:xfrm>
            <a:off x="1238250" y="8544533"/>
            <a:ext cx="926319" cy="3516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9A7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검수 5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2507444" y="8481032"/>
            <a:ext cx="14978575" cy="929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8197"/>
              </a:lnSpc>
              <a:buNone/>
            </a:pPr>
            <a:r>
              <a:rPr lang="en-US" sz="1950" dirty="0">
                <a:solidFill>
                  <a:srgbClr val="2E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화면에만 있고 인쇄본에 없는 정보가 있는가 · ② 점선 밑줄 없이 표시된 가정값이 있는가 · ③ 한 셀에 채워진 색 배지가 둘 이상인가 · ④ 신뢰도 경고가 카드 하단에 있는가 · ⑤ 같은 색이 두 뜻으로 쓰이는가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2026-08-17T04:36:44Z</dcterms:created>
  <dcterms:modified xsi:type="dcterms:W3CDTF">2026-08-17T04:36:44Z</dcterms:modified>
</cp:coreProperties>
</file>